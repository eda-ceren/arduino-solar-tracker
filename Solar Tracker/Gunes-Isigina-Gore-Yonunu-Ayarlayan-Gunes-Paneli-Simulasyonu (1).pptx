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Bitter Medium" panose="020B0604020202020204" charset="-94"/>
      <p:regular r:id="rId17"/>
    </p:embeddedFont>
    <p:embeddedFont>
      <p:font typeface="Consolas" panose="020B0609020204030204" pitchFamily="49" charset="0"/>
      <p:regular r:id="rId18"/>
      <p:bold r:id="rId19"/>
      <p:italic r:id="rId20"/>
      <p:boldItalic r:id="rId21"/>
    </p:embeddedFont>
    <p:embeddedFont>
      <p:font typeface="Open Sans" panose="020B0606030504020204" pitchFamily="34" charset="0"/>
      <p:regular r:id="rId22"/>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298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490311"/>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Güneş Işığına Göre Yönünü Ayarlayan Güneş Paneli Simülasyonu</a:t>
            </a:r>
            <a:endParaRPr lang="en-US" sz="4450" dirty="0"/>
          </a:p>
        </p:txBody>
      </p:sp>
      <p:sp>
        <p:nvSpPr>
          <p:cNvPr id="3" name="Text 1"/>
          <p:cNvSpPr/>
          <p:nvPr/>
        </p:nvSpPr>
        <p:spPr>
          <a:xfrm>
            <a:off x="793790" y="424803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2C3F42"/>
                </a:solidFill>
                <a:latin typeface="Bitter Medium" pitchFamily="34" charset="0"/>
                <a:ea typeface="Bitter Medium" pitchFamily="34" charset="-122"/>
                <a:cs typeface="Bitter Medium" pitchFamily="34" charset="-120"/>
              </a:rPr>
              <a:t>(Basit Solar Tracker)</a:t>
            </a:r>
            <a:endParaRPr lang="en-US" sz="2650" dirty="0"/>
          </a:p>
        </p:txBody>
      </p:sp>
      <p:sp>
        <p:nvSpPr>
          <p:cNvPr id="4" name="Text 2"/>
          <p:cNvSpPr/>
          <p:nvPr/>
        </p:nvSpPr>
        <p:spPr>
          <a:xfrm>
            <a:off x="793790" y="501348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Bu sunum, güneş panellerinin güneşin hareketini takip ederek verimliliği nasıl artırdığını gösteren basit bir solar tracker simülasyonunu detaylandırmaktadır.</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6093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Solar Tracker Nedir?</a:t>
            </a:r>
            <a:endParaRPr lang="en-US" sz="4450" dirty="0"/>
          </a:p>
        </p:txBody>
      </p:sp>
      <p:sp>
        <p:nvSpPr>
          <p:cNvPr id="3" name="Shape 1"/>
          <p:cNvSpPr/>
          <p:nvPr/>
        </p:nvSpPr>
        <p:spPr>
          <a:xfrm>
            <a:off x="793790" y="2923342"/>
            <a:ext cx="4196358" cy="3545324"/>
          </a:xfrm>
          <a:prstGeom prst="roundRect">
            <a:avLst>
              <a:gd name="adj" fmla="val 2687"/>
            </a:avLst>
          </a:prstGeom>
          <a:solidFill>
            <a:srgbClr val="FFF8F0"/>
          </a:solidFill>
          <a:ln w="30480">
            <a:solidFill>
              <a:srgbClr val="E2C8B5"/>
            </a:solidFill>
            <a:prstDash val="solid"/>
          </a:ln>
        </p:spPr>
        <p:txBody>
          <a:bodyPr/>
          <a:lstStyle/>
          <a:p>
            <a:endParaRPr lang="tr-TR"/>
          </a:p>
        </p:txBody>
      </p:sp>
      <p:sp>
        <p:nvSpPr>
          <p:cNvPr id="4" name="Shape 2"/>
          <p:cNvSpPr/>
          <p:nvPr/>
        </p:nvSpPr>
        <p:spPr>
          <a:xfrm>
            <a:off x="793790" y="2923342"/>
            <a:ext cx="121920" cy="3545324"/>
          </a:xfrm>
          <a:prstGeom prst="roundRect">
            <a:avLst>
              <a:gd name="adj" fmla="val 78139"/>
            </a:avLst>
          </a:prstGeom>
          <a:solidFill>
            <a:srgbClr val="D2600F"/>
          </a:solidFill>
          <a:ln/>
        </p:spPr>
        <p:txBody>
          <a:bodyPr/>
          <a:lstStyle/>
          <a:p>
            <a:endParaRPr lang="tr-TR"/>
          </a:p>
        </p:txBody>
      </p:sp>
      <p:sp>
        <p:nvSpPr>
          <p:cNvPr id="5" name="Text 3"/>
          <p:cNvSpPr/>
          <p:nvPr/>
        </p:nvSpPr>
        <p:spPr>
          <a:xfrm>
            <a:off x="1173004" y="31806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Tanım</a:t>
            </a:r>
            <a:endParaRPr lang="en-US" sz="2200" dirty="0"/>
          </a:p>
        </p:txBody>
      </p:sp>
      <p:sp>
        <p:nvSpPr>
          <p:cNvPr id="6" name="Text 4"/>
          <p:cNvSpPr/>
          <p:nvPr/>
        </p:nvSpPr>
        <p:spPr>
          <a:xfrm>
            <a:off x="1173004" y="3671054"/>
            <a:ext cx="3559850" cy="254031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Solar tracker (güneş takip sistemi), güneş panellerinin gün boyunca güneşin konumunu takip etmesini sağlayan bir cihazdır. Bu sayede paneller güneş ışınlarını her zaman dik açıyla alabilir.</a:t>
            </a:r>
            <a:endParaRPr lang="en-US" sz="1750" dirty="0"/>
          </a:p>
        </p:txBody>
      </p:sp>
      <p:sp>
        <p:nvSpPr>
          <p:cNvPr id="7" name="Shape 5"/>
          <p:cNvSpPr/>
          <p:nvPr/>
        </p:nvSpPr>
        <p:spPr>
          <a:xfrm>
            <a:off x="5216962" y="2923342"/>
            <a:ext cx="4196358" cy="3545324"/>
          </a:xfrm>
          <a:prstGeom prst="roundRect">
            <a:avLst>
              <a:gd name="adj" fmla="val 2687"/>
            </a:avLst>
          </a:prstGeom>
          <a:solidFill>
            <a:srgbClr val="FFF8F0"/>
          </a:solidFill>
          <a:ln w="30480">
            <a:solidFill>
              <a:srgbClr val="E2C8B5"/>
            </a:solidFill>
            <a:prstDash val="solid"/>
          </a:ln>
        </p:spPr>
        <p:txBody>
          <a:bodyPr/>
          <a:lstStyle/>
          <a:p>
            <a:endParaRPr lang="tr-TR"/>
          </a:p>
        </p:txBody>
      </p:sp>
      <p:sp>
        <p:nvSpPr>
          <p:cNvPr id="8" name="Shape 6"/>
          <p:cNvSpPr/>
          <p:nvPr/>
        </p:nvSpPr>
        <p:spPr>
          <a:xfrm>
            <a:off x="5216962" y="2923342"/>
            <a:ext cx="121920" cy="3545324"/>
          </a:xfrm>
          <a:prstGeom prst="roundRect">
            <a:avLst>
              <a:gd name="adj" fmla="val 78139"/>
            </a:avLst>
          </a:prstGeom>
          <a:solidFill>
            <a:srgbClr val="D2600F"/>
          </a:solidFill>
          <a:ln/>
        </p:spPr>
        <p:txBody>
          <a:bodyPr/>
          <a:lstStyle/>
          <a:p>
            <a:endParaRPr lang="tr-TR"/>
          </a:p>
        </p:txBody>
      </p:sp>
      <p:sp>
        <p:nvSpPr>
          <p:cNvPr id="9" name="Text 7"/>
          <p:cNvSpPr/>
          <p:nvPr/>
        </p:nvSpPr>
        <p:spPr>
          <a:xfrm>
            <a:off x="5596176" y="31806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Amacı</a:t>
            </a:r>
            <a:endParaRPr lang="en-US" sz="2200" dirty="0"/>
          </a:p>
        </p:txBody>
      </p:sp>
      <p:sp>
        <p:nvSpPr>
          <p:cNvPr id="10" name="Text 8"/>
          <p:cNvSpPr/>
          <p:nvPr/>
        </p:nvSpPr>
        <p:spPr>
          <a:xfrm>
            <a:off x="5596176" y="3671054"/>
            <a:ext cx="3559850"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Temel amacı, güneş panellerinin enerji üretim verimliliğini artırmaktır. Sabit panellere göre %10-40 arası daha fazla enerji elde edilmesini sağlayabilir.</a:t>
            </a:r>
            <a:endParaRPr lang="en-US" sz="1750" dirty="0"/>
          </a:p>
        </p:txBody>
      </p:sp>
      <p:sp>
        <p:nvSpPr>
          <p:cNvPr id="11" name="Shape 9"/>
          <p:cNvSpPr/>
          <p:nvPr/>
        </p:nvSpPr>
        <p:spPr>
          <a:xfrm>
            <a:off x="9640133" y="2923342"/>
            <a:ext cx="4196358" cy="3545324"/>
          </a:xfrm>
          <a:prstGeom prst="roundRect">
            <a:avLst>
              <a:gd name="adj" fmla="val 2687"/>
            </a:avLst>
          </a:prstGeom>
          <a:solidFill>
            <a:srgbClr val="FFF8F0"/>
          </a:solidFill>
          <a:ln w="30480">
            <a:solidFill>
              <a:srgbClr val="E2C8B5"/>
            </a:solidFill>
            <a:prstDash val="solid"/>
          </a:ln>
        </p:spPr>
        <p:txBody>
          <a:bodyPr/>
          <a:lstStyle/>
          <a:p>
            <a:endParaRPr lang="tr-TR"/>
          </a:p>
        </p:txBody>
      </p:sp>
      <p:sp>
        <p:nvSpPr>
          <p:cNvPr id="12" name="Shape 10"/>
          <p:cNvSpPr/>
          <p:nvPr/>
        </p:nvSpPr>
        <p:spPr>
          <a:xfrm>
            <a:off x="9640133" y="2923342"/>
            <a:ext cx="121920" cy="3545324"/>
          </a:xfrm>
          <a:prstGeom prst="roundRect">
            <a:avLst>
              <a:gd name="adj" fmla="val 78139"/>
            </a:avLst>
          </a:prstGeom>
          <a:solidFill>
            <a:srgbClr val="D2600F"/>
          </a:solidFill>
          <a:ln/>
        </p:spPr>
        <p:txBody>
          <a:bodyPr/>
          <a:lstStyle/>
          <a:p>
            <a:endParaRPr lang="tr-TR"/>
          </a:p>
        </p:txBody>
      </p:sp>
      <p:sp>
        <p:nvSpPr>
          <p:cNvPr id="13" name="Text 11"/>
          <p:cNvSpPr/>
          <p:nvPr/>
        </p:nvSpPr>
        <p:spPr>
          <a:xfrm>
            <a:off x="10019348" y="31806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Faydaları</a:t>
            </a:r>
            <a:endParaRPr lang="en-US" sz="2200" dirty="0"/>
          </a:p>
        </p:txBody>
      </p:sp>
      <p:sp>
        <p:nvSpPr>
          <p:cNvPr id="14" name="Text 12"/>
          <p:cNvSpPr/>
          <p:nvPr/>
        </p:nvSpPr>
        <p:spPr>
          <a:xfrm>
            <a:off x="10019348" y="3671054"/>
            <a:ext cx="3559850"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Daha yüksek enerji üretimi, yatırım getirisinin hızlanması ve sistemin uzun vadeli performansının artması gibi önemli faydalar sunar.</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019062"/>
            <a:ext cx="9921002"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Proje Yaklaşımı ve Simülasyon Temeli</a:t>
            </a:r>
            <a:endParaRPr lang="en-US" sz="4450" dirty="0"/>
          </a:p>
        </p:txBody>
      </p:sp>
      <p:sp>
        <p:nvSpPr>
          <p:cNvPr id="3" name="Text 1"/>
          <p:cNvSpPr/>
          <p:nvPr/>
        </p:nvSpPr>
        <p:spPr>
          <a:xfrm>
            <a:off x="793790" y="318146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Bu projemizde, fiziksel bir prototip yerine, bir solar tracker sisteminin işleyişini simüle etmeye odaklandık. Simülasyon, tasarım ve test aşamalarında esneklik ve kolaylık sağlar.</a:t>
            </a:r>
            <a:endParaRPr lang="en-US" sz="1750" dirty="0"/>
          </a:p>
        </p:txBody>
      </p:sp>
      <p:sp>
        <p:nvSpPr>
          <p:cNvPr id="4" name="Shape 2"/>
          <p:cNvSpPr/>
          <p:nvPr/>
        </p:nvSpPr>
        <p:spPr>
          <a:xfrm>
            <a:off x="793790" y="4162425"/>
            <a:ext cx="6407944" cy="2047994"/>
          </a:xfrm>
          <a:prstGeom prst="roundRect">
            <a:avLst>
              <a:gd name="adj" fmla="val 4652"/>
            </a:avLst>
          </a:prstGeom>
          <a:solidFill>
            <a:srgbClr val="FCE2CF"/>
          </a:solidFill>
          <a:ln w="7620">
            <a:solidFill>
              <a:srgbClr val="E2C8B5"/>
            </a:solidFill>
            <a:prstDash val="solid"/>
          </a:ln>
        </p:spPr>
        <p:txBody>
          <a:bodyPr/>
          <a:lstStyle/>
          <a:p>
            <a:endParaRPr lang="tr-TR"/>
          </a:p>
        </p:txBody>
      </p:sp>
      <p:sp>
        <p:nvSpPr>
          <p:cNvPr id="5" name="Text 3"/>
          <p:cNvSpPr/>
          <p:nvPr/>
        </p:nvSpPr>
        <p:spPr>
          <a:xfrm>
            <a:off x="1028224" y="4396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Eğitsel Amaç</a:t>
            </a:r>
            <a:endParaRPr lang="en-US" sz="2200" dirty="0"/>
          </a:p>
        </p:txBody>
      </p:sp>
      <p:sp>
        <p:nvSpPr>
          <p:cNvPr id="6" name="Text 4"/>
          <p:cNvSpPr/>
          <p:nvPr/>
        </p:nvSpPr>
        <p:spPr>
          <a:xfrm>
            <a:off x="1028224" y="4887278"/>
            <a:ext cx="5939076"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Özellikle üniversite öğrencileri ve hobi meraklıları için anlaşılır, temel elektronik ve programlama bilgisiyle yapılabilecek bir başlangıç projesidir.</a:t>
            </a:r>
            <a:endParaRPr lang="en-US" sz="1750" dirty="0"/>
          </a:p>
        </p:txBody>
      </p:sp>
      <p:sp>
        <p:nvSpPr>
          <p:cNvPr id="7" name="Shape 5"/>
          <p:cNvSpPr/>
          <p:nvPr/>
        </p:nvSpPr>
        <p:spPr>
          <a:xfrm>
            <a:off x="7428548" y="4162425"/>
            <a:ext cx="6408063" cy="2047994"/>
          </a:xfrm>
          <a:prstGeom prst="roundRect">
            <a:avLst>
              <a:gd name="adj" fmla="val 4652"/>
            </a:avLst>
          </a:prstGeom>
          <a:solidFill>
            <a:srgbClr val="FCE2CF"/>
          </a:solidFill>
          <a:ln w="7620">
            <a:solidFill>
              <a:srgbClr val="E2C8B5"/>
            </a:solidFill>
            <a:prstDash val="solid"/>
          </a:ln>
        </p:spPr>
        <p:txBody>
          <a:bodyPr/>
          <a:lstStyle/>
          <a:p>
            <a:endParaRPr lang="tr-TR"/>
          </a:p>
        </p:txBody>
      </p:sp>
      <p:sp>
        <p:nvSpPr>
          <p:cNvPr id="8" name="Text 6"/>
          <p:cNvSpPr/>
          <p:nvPr/>
        </p:nvSpPr>
        <p:spPr>
          <a:xfrm>
            <a:off x="7662982" y="4396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Basit Tasarım</a:t>
            </a:r>
            <a:endParaRPr lang="en-US" sz="2200" dirty="0"/>
          </a:p>
        </p:txBody>
      </p:sp>
      <p:sp>
        <p:nvSpPr>
          <p:cNvPr id="9" name="Text 7"/>
          <p:cNvSpPr/>
          <p:nvPr/>
        </p:nvSpPr>
        <p:spPr>
          <a:xfrm>
            <a:off x="7662982" y="4887278"/>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Sistemin temel çalışma prensiplerini göstermek adına, karmaşık olmayan bileşenler ve kod yapısı tercih edilmiştir.</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89829"/>
            <a:ext cx="7523798"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Tinkercad ile Sanal Kurulum</a:t>
            </a:r>
            <a:endParaRPr lang="en-US" sz="4450" dirty="0"/>
          </a:p>
        </p:txBody>
      </p:sp>
      <p:sp>
        <p:nvSpPr>
          <p:cNvPr id="3" name="Text 1"/>
          <p:cNvSpPr/>
          <p:nvPr/>
        </p:nvSpPr>
        <p:spPr>
          <a:xfrm>
            <a:off x="793790" y="265223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Projemizin ilk görselleştirme ve simülasyon adımı Tinkercad üzerinde gerçekleştirildi. Tinkercad, donanım bileşenlerini sanal ortamda bir araya getirip kodlayabileceğimiz kullanıcı dostu bir platformdur.</a:t>
            </a:r>
            <a:endParaRPr lang="en-US" sz="1750" dirty="0"/>
          </a:p>
        </p:txBody>
      </p:sp>
      <p:sp>
        <p:nvSpPr>
          <p:cNvPr id="4" name="Shape 2"/>
          <p:cNvSpPr/>
          <p:nvPr/>
        </p:nvSpPr>
        <p:spPr>
          <a:xfrm>
            <a:off x="793790" y="3973354"/>
            <a:ext cx="4196358" cy="2766298"/>
          </a:xfrm>
          <a:prstGeom prst="roundRect">
            <a:avLst>
              <a:gd name="adj" fmla="val 5289"/>
            </a:avLst>
          </a:prstGeom>
          <a:solidFill>
            <a:srgbClr val="FFF8F0"/>
          </a:solidFill>
          <a:ln/>
        </p:spPr>
        <p:txBody>
          <a:bodyPr/>
          <a:lstStyle/>
          <a:p>
            <a:endParaRPr lang="tr-TR"/>
          </a:p>
        </p:txBody>
      </p:sp>
      <p:sp>
        <p:nvSpPr>
          <p:cNvPr id="5" name="Shape 3"/>
          <p:cNvSpPr/>
          <p:nvPr/>
        </p:nvSpPr>
        <p:spPr>
          <a:xfrm>
            <a:off x="793790" y="3942874"/>
            <a:ext cx="4196358" cy="121920"/>
          </a:xfrm>
          <a:prstGeom prst="roundRect">
            <a:avLst>
              <a:gd name="adj" fmla="val 78139"/>
            </a:avLst>
          </a:prstGeom>
          <a:solidFill>
            <a:srgbClr val="D2600F"/>
          </a:solidFill>
          <a:ln/>
        </p:spPr>
        <p:txBody>
          <a:bodyPr/>
          <a:lstStyle/>
          <a:p>
            <a:endParaRPr lang="tr-TR"/>
          </a:p>
        </p:txBody>
      </p:sp>
      <p:sp>
        <p:nvSpPr>
          <p:cNvPr id="6" name="Shape 4"/>
          <p:cNvSpPr/>
          <p:nvPr/>
        </p:nvSpPr>
        <p:spPr>
          <a:xfrm>
            <a:off x="2551688" y="3633192"/>
            <a:ext cx="680442" cy="680442"/>
          </a:xfrm>
          <a:prstGeom prst="roundRect">
            <a:avLst>
              <a:gd name="adj" fmla="val 134383"/>
            </a:avLst>
          </a:prstGeom>
          <a:solidFill>
            <a:srgbClr val="D2600F"/>
          </a:solidFill>
          <a:ln/>
        </p:spPr>
        <p:txBody>
          <a:bodyPr/>
          <a:lstStyle/>
          <a:p>
            <a:endParaRPr lang="tr-TR"/>
          </a:p>
        </p:txBody>
      </p:sp>
      <p:sp>
        <p:nvSpPr>
          <p:cNvPr id="7" name="Text 5"/>
          <p:cNvSpPr/>
          <p:nvPr/>
        </p:nvSpPr>
        <p:spPr>
          <a:xfrm>
            <a:off x="2755761" y="3803333"/>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Bitter Medium" pitchFamily="34" charset="0"/>
                <a:ea typeface="Bitter Medium" pitchFamily="34" charset="-122"/>
                <a:cs typeface="Bitter Medium" pitchFamily="34" charset="-120"/>
              </a:rPr>
              <a:t>1</a:t>
            </a:r>
            <a:endParaRPr lang="en-US" sz="2100" dirty="0"/>
          </a:p>
        </p:txBody>
      </p:sp>
      <p:sp>
        <p:nvSpPr>
          <p:cNvPr id="8" name="Text 6"/>
          <p:cNvSpPr/>
          <p:nvPr/>
        </p:nvSpPr>
        <p:spPr>
          <a:xfrm>
            <a:off x="1051084" y="45403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Sanal Bileşenler</a:t>
            </a:r>
            <a:endParaRPr lang="en-US" sz="2200" dirty="0"/>
          </a:p>
        </p:txBody>
      </p:sp>
      <p:sp>
        <p:nvSpPr>
          <p:cNvPr id="9" name="Text 7"/>
          <p:cNvSpPr/>
          <p:nvPr/>
        </p:nvSpPr>
        <p:spPr>
          <a:xfrm>
            <a:off x="1051084" y="503074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Arduino kartı, LDR (ışık bağımlı direnç) sensörleri ve servo motor gibi temel bileşenler Tinkercad kütüphanesinden seçildi.</a:t>
            </a:r>
            <a:endParaRPr lang="en-US" sz="1750" dirty="0"/>
          </a:p>
        </p:txBody>
      </p:sp>
      <p:sp>
        <p:nvSpPr>
          <p:cNvPr id="10" name="Shape 8"/>
          <p:cNvSpPr/>
          <p:nvPr/>
        </p:nvSpPr>
        <p:spPr>
          <a:xfrm>
            <a:off x="5216962" y="3973354"/>
            <a:ext cx="4196358" cy="2766298"/>
          </a:xfrm>
          <a:prstGeom prst="roundRect">
            <a:avLst>
              <a:gd name="adj" fmla="val 5289"/>
            </a:avLst>
          </a:prstGeom>
          <a:solidFill>
            <a:srgbClr val="FFF8F0"/>
          </a:solidFill>
          <a:ln/>
        </p:spPr>
        <p:txBody>
          <a:bodyPr/>
          <a:lstStyle/>
          <a:p>
            <a:endParaRPr lang="tr-TR"/>
          </a:p>
        </p:txBody>
      </p:sp>
      <p:sp>
        <p:nvSpPr>
          <p:cNvPr id="11" name="Shape 9"/>
          <p:cNvSpPr/>
          <p:nvPr/>
        </p:nvSpPr>
        <p:spPr>
          <a:xfrm>
            <a:off x="5216962" y="3942874"/>
            <a:ext cx="4196358" cy="121920"/>
          </a:xfrm>
          <a:prstGeom prst="roundRect">
            <a:avLst>
              <a:gd name="adj" fmla="val 78139"/>
            </a:avLst>
          </a:prstGeom>
          <a:solidFill>
            <a:srgbClr val="D2600F"/>
          </a:solidFill>
          <a:ln/>
        </p:spPr>
        <p:txBody>
          <a:bodyPr/>
          <a:lstStyle/>
          <a:p>
            <a:endParaRPr lang="tr-TR"/>
          </a:p>
        </p:txBody>
      </p:sp>
      <p:sp>
        <p:nvSpPr>
          <p:cNvPr id="12" name="Shape 10"/>
          <p:cNvSpPr/>
          <p:nvPr/>
        </p:nvSpPr>
        <p:spPr>
          <a:xfrm>
            <a:off x="6974860" y="3633192"/>
            <a:ext cx="680442" cy="680442"/>
          </a:xfrm>
          <a:prstGeom prst="roundRect">
            <a:avLst>
              <a:gd name="adj" fmla="val 134383"/>
            </a:avLst>
          </a:prstGeom>
          <a:solidFill>
            <a:srgbClr val="D2600F"/>
          </a:solidFill>
          <a:ln/>
        </p:spPr>
        <p:txBody>
          <a:bodyPr/>
          <a:lstStyle/>
          <a:p>
            <a:endParaRPr lang="tr-TR"/>
          </a:p>
        </p:txBody>
      </p:sp>
      <p:sp>
        <p:nvSpPr>
          <p:cNvPr id="13" name="Text 11"/>
          <p:cNvSpPr/>
          <p:nvPr/>
        </p:nvSpPr>
        <p:spPr>
          <a:xfrm>
            <a:off x="7178933" y="3803333"/>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Bitter Medium" pitchFamily="34" charset="0"/>
                <a:ea typeface="Bitter Medium" pitchFamily="34" charset="-122"/>
                <a:cs typeface="Bitter Medium" pitchFamily="34" charset="-120"/>
              </a:rPr>
              <a:t>2</a:t>
            </a:r>
            <a:endParaRPr lang="en-US" sz="2100" dirty="0"/>
          </a:p>
        </p:txBody>
      </p:sp>
      <p:sp>
        <p:nvSpPr>
          <p:cNvPr id="14" name="Text 12"/>
          <p:cNvSpPr/>
          <p:nvPr/>
        </p:nvSpPr>
        <p:spPr>
          <a:xfrm>
            <a:off x="5474256" y="45403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Devre Bağlantıları</a:t>
            </a:r>
            <a:endParaRPr lang="en-US" sz="2200" dirty="0"/>
          </a:p>
        </p:txBody>
      </p:sp>
      <p:sp>
        <p:nvSpPr>
          <p:cNvPr id="15" name="Text 13"/>
          <p:cNvSpPr/>
          <p:nvPr/>
        </p:nvSpPr>
        <p:spPr>
          <a:xfrm>
            <a:off x="5474256" y="503074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Gerçek hayattaki bağlantıları yansıtan sanal kablolama ile devre şeması oluşturuldu ve simülasyon ortamında test edildi.</a:t>
            </a:r>
            <a:endParaRPr lang="en-US" sz="1750" dirty="0"/>
          </a:p>
        </p:txBody>
      </p:sp>
      <p:sp>
        <p:nvSpPr>
          <p:cNvPr id="16" name="Shape 14"/>
          <p:cNvSpPr/>
          <p:nvPr/>
        </p:nvSpPr>
        <p:spPr>
          <a:xfrm>
            <a:off x="9640133" y="3973354"/>
            <a:ext cx="4196358" cy="2766298"/>
          </a:xfrm>
          <a:prstGeom prst="roundRect">
            <a:avLst>
              <a:gd name="adj" fmla="val 5289"/>
            </a:avLst>
          </a:prstGeom>
          <a:solidFill>
            <a:srgbClr val="FFF8F0"/>
          </a:solidFill>
          <a:ln/>
        </p:spPr>
        <p:txBody>
          <a:bodyPr/>
          <a:lstStyle/>
          <a:p>
            <a:endParaRPr lang="tr-TR"/>
          </a:p>
        </p:txBody>
      </p:sp>
      <p:sp>
        <p:nvSpPr>
          <p:cNvPr id="17" name="Shape 15"/>
          <p:cNvSpPr/>
          <p:nvPr/>
        </p:nvSpPr>
        <p:spPr>
          <a:xfrm>
            <a:off x="9640133" y="3942874"/>
            <a:ext cx="4196358" cy="121920"/>
          </a:xfrm>
          <a:prstGeom prst="roundRect">
            <a:avLst>
              <a:gd name="adj" fmla="val 78139"/>
            </a:avLst>
          </a:prstGeom>
          <a:solidFill>
            <a:srgbClr val="D2600F"/>
          </a:solidFill>
          <a:ln/>
        </p:spPr>
        <p:txBody>
          <a:bodyPr/>
          <a:lstStyle/>
          <a:p>
            <a:endParaRPr lang="tr-TR"/>
          </a:p>
        </p:txBody>
      </p:sp>
      <p:sp>
        <p:nvSpPr>
          <p:cNvPr id="18" name="Shape 16"/>
          <p:cNvSpPr/>
          <p:nvPr/>
        </p:nvSpPr>
        <p:spPr>
          <a:xfrm>
            <a:off x="11398032" y="3633192"/>
            <a:ext cx="680442" cy="680442"/>
          </a:xfrm>
          <a:prstGeom prst="roundRect">
            <a:avLst>
              <a:gd name="adj" fmla="val 134383"/>
            </a:avLst>
          </a:prstGeom>
          <a:solidFill>
            <a:srgbClr val="D2600F"/>
          </a:solidFill>
          <a:ln/>
        </p:spPr>
        <p:txBody>
          <a:bodyPr/>
          <a:lstStyle/>
          <a:p>
            <a:endParaRPr lang="tr-TR"/>
          </a:p>
        </p:txBody>
      </p:sp>
      <p:sp>
        <p:nvSpPr>
          <p:cNvPr id="19" name="Text 17"/>
          <p:cNvSpPr/>
          <p:nvPr/>
        </p:nvSpPr>
        <p:spPr>
          <a:xfrm>
            <a:off x="11602105" y="3803333"/>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Bitter Medium" pitchFamily="34" charset="0"/>
                <a:ea typeface="Bitter Medium" pitchFamily="34" charset="-122"/>
                <a:cs typeface="Bitter Medium" pitchFamily="34" charset="-120"/>
              </a:rPr>
              <a:t>3</a:t>
            </a:r>
            <a:endParaRPr lang="en-US" sz="2100" dirty="0"/>
          </a:p>
        </p:txBody>
      </p:sp>
      <p:sp>
        <p:nvSpPr>
          <p:cNvPr id="20" name="Text 18"/>
          <p:cNvSpPr/>
          <p:nvPr/>
        </p:nvSpPr>
        <p:spPr>
          <a:xfrm>
            <a:off x="9897427" y="45403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Hızlı Test İmkanı</a:t>
            </a:r>
            <a:endParaRPr lang="en-US" sz="2200" dirty="0"/>
          </a:p>
        </p:txBody>
      </p:sp>
      <p:sp>
        <p:nvSpPr>
          <p:cNvPr id="21" name="Text 19"/>
          <p:cNvSpPr/>
          <p:nvPr/>
        </p:nvSpPr>
        <p:spPr>
          <a:xfrm>
            <a:off x="9897427" y="503074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Kodun donanım üzerindeki davranışını fiziksel bir prototipe ihtiyaç duymadan gözlemleme ve hata ayıklama imkanı sunuldu.</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6521" y="277381"/>
            <a:ext cx="8977551"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Tinkercad Sanal Devre Görünümü</a:t>
            </a:r>
            <a:endParaRPr lang="en-US" sz="4450" dirty="0"/>
          </a:p>
        </p:txBody>
      </p:sp>
      <p:pic>
        <p:nvPicPr>
          <p:cNvPr id="4" name="Resim 3" descr="diyagram içeren bir resim&#10;&#10;Yapay zeka tarafından oluşturulmuş içerik yanlış olabilir.">
            <a:extLst>
              <a:ext uri="{FF2B5EF4-FFF2-40B4-BE49-F238E27FC236}">
                <a16:creationId xmlns:a16="http://schemas.microsoft.com/office/drawing/2014/main" id="{B98D2CEC-4633-E2BA-B0A2-29B5A6211AA6}"/>
              </a:ext>
            </a:extLst>
          </p:cNvPr>
          <p:cNvPicPr>
            <a:picLocks noChangeAspect="1"/>
          </p:cNvPicPr>
          <p:nvPr/>
        </p:nvPicPr>
        <p:blipFill>
          <a:blip r:embed="rId3"/>
          <a:stretch>
            <a:fillRect/>
          </a:stretch>
        </p:blipFill>
        <p:spPr>
          <a:xfrm>
            <a:off x="887301" y="1488011"/>
            <a:ext cx="12694884" cy="60328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3260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Sistem Kontrol Kodu</a:t>
            </a:r>
            <a:endParaRPr lang="en-US" sz="4450" dirty="0"/>
          </a:p>
        </p:txBody>
      </p:sp>
      <p:sp>
        <p:nvSpPr>
          <p:cNvPr id="3" name="Text 1"/>
          <p:cNvSpPr/>
          <p:nvPr/>
        </p:nvSpPr>
        <p:spPr>
          <a:xfrm>
            <a:off x="793790" y="199501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Güneş takip sisteminin kalbi, güneş sensörlerinden (LDR'ler) gelen verileri işleyerek paneli doğru yöne çeviren Arduino kodudur.</a:t>
            </a:r>
            <a:endParaRPr lang="en-US" sz="1750" dirty="0"/>
          </a:p>
        </p:txBody>
      </p:sp>
      <p:sp>
        <p:nvSpPr>
          <p:cNvPr id="4" name="Text 2"/>
          <p:cNvSpPr/>
          <p:nvPr/>
        </p:nvSpPr>
        <p:spPr>
          <a:xfrm>
            <a:off x="793790" y="29759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01</a:t>
            </a:r>
            <a:endParaRPr lang="en-US" sz="1750" dirty="0"/>
          </a:p>
        </p:txBody>
      </p:sp>
      <p:sp>
        <p:nvSpPr>
          <p:cNvPr id="5" name="Shape 3"/>
          <p:cNvSpPr/>
          <p:nvPr/>
        </p:nvSpPr>
        <p:spPr>
          <a:xfrm>
            <a:off x="793790" y="3331012"/>
            <a:ext cx="6407944" cy="30480"/>
          </a:xfrm>
          <a:prstGeom prst="rect">
            <a:avLst/>
          </a:prstGeom>
          <a:solidFill>
            <a:srgbClr val="D2600F"/>
          </a:solidFill>
          <a:ln/>
        </p:spPr>
        <p:txBody>
          <a:bodyPr/>
          <a:lstStyle/>
          <a:p>
            <a:endParaRPr lang="tr-TR"/>
          </a:p>
        </p:txBody>
      </p:sp>
      <p:sp>
        <p:nvSpPr>
          <p:cNvPr id="6" name="Text 4"/>
          <p:cNvSpPr/>
          <p:nvPr/>
        </p:nvSpPr>
        <p:spPr>
          <a:xfrm>
            <a:off x="793790" y="35053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LDR Veri Okuma</a:t>
            </a:r>
            <a:endParaRPr lang="en-US" sz="2200" dirty="0"/>
          </a:p>
        </p:txBody>
      </p:sp>
      <p:sp>
        <p:nvSpPr>
          <p:cNvPr id="7" name="Text 5"/>
          <p:cNvSpPr/>
          <p:nvPr/>
        </p:nvSpPr>
        <p:spPr>
          <a:xfrm>
            <a:off x="793790" y="3995738"/>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Dört adet LDR sensör (her yöne bir tane) kullanılarak güneş ışığının yoğunluğu okunur ve analog değerler dijitale çevrilir.</a:t>
            </a:r>
            <a:endParaRPr lang="en-US" sz="1750" dirty="0"/>
          </a:p>
        </p:txBody>
      </p:sp>
      <p:sp>
        <p:nvSpPr>
          <p:cNvPr id="8" name="Text 6"/>
          <p:cNvSpPr/>
          <p:nvPr/>
        </p:nvSpPr>
        <p:spPr>
          <a:xfrm>
            <a:off x="7428548" y="29759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02</a:t>
            </a:r>
            <a:endParaRPr lang="en-US" sz="1750" dirty="0"/>
          </a:p>
        </p:txBody>
      </p:sp>
      <p:sp>
        <p:nvSpPr>
          <p:cNvPr id="9" name="Shape 7"/>
          <p:cNvSpPr/>
          <p:nvPr/>
        </p:nvSpPr>
        <p:spPr>
          <a:xfrm>
            <a:off x="7428548" y="3331012"/>
            <a:ext cx="6408063" cy="30480"/>
          </a:xfrm>
          <a:prstGeom prst="rect">
            <a:avLst/>
          </a:prstGeom>
          <a:solidFill>
            <a:srgbClr val="D2600F"/>
          </a:solidFill>
          <a:ln/>
        </p:spPr>
        <p:txBody>
          <a:bodyPr/>
          <a:lstStyle/>
          <a:p>
            <a:endParaRPr lang="tr-TR"/>
          </a:p>
        </p:txBody>
      </p:sp>
      <p:sp>
        <p:nvSpPr>
          <p:cNvPr id="10" name="Text 8"/>
          <p:cNvSpPr/>
          <p:nvPr/>
        </p:nvSpPr>
        <p:spPr>
          <a:xfrm>
            <a:off x="7428548" y="3505319"/>
            <a:ext cx="3133487"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Yön Karar Mekanizması</a:t>
            </a:r>
            <a:endParaRPr lang="en-US" sz="2200" dirty="0"/>
          </a:p>
        </p:txBody>
      </p:sp>
      <p:sp>
        <p:nvSpPr>
          <p:cNvPr id="11" name="Text 9"/>
          <p:cNvSpPr/>
          <p:nvPr/>
        </p:nvSpPr>
        <p:spPr>
          <a:xfrm>
            <a:off x="7428548" y="3995738"/>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Okunan LDR değerleri karşılaştırılır. Işığın en yoğun geldiği yön belirlenir.</a:t>
            </a:r>
            <a:endParaRPr lang="en-US" sz="1750" dirty="0"/>
          </a:p>
        </p:txBody>
      </p:sp>
      <p:sp>
        <p:nvSpPr>
          <p:cNvPr id="12" name="Text 10"/>
          <p:cNvSpPr/>
          <p:nvPr/>
        </p:nvSpPr>
        <p:spPr>
          <a:xfrm>
            <a:off x="793790" y="511837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03</a:t>
            </a:r>
            <a:endParaRPr lang="en-US" sz="1750" dirty="0"/>
          </a:p>
        </p:txBody>
      </p:sp>
      <p:sp>
        <p:nvSpPr>
          <p:cNvPr id="13" name="Shape 11"/>
          <p:cNvSpPr/>
          <p:nvPr/>
        </p:nvSpPr>
        <p:spPr>
          <a:xfrm>
            <a:off x="793790" y="5473422"/>
            <a:ext cx="6407944" cy="30480"/>
          </a:xfrm>
          <a:prstGeom prst="rect">
            <a:avLst/>
          </a:prstGeom>
          <a:solidFill>
            <a:srgbClr val="D2600F"/>
          </a:solidFill>
          <a:ln/>
        </p:spPr>
        <p:txBody>
          <a:bodyPr/>
          <a:lstStyle/>
          <a:p>
            <a:endParaRPr lang="tr-TR"/>
          </a:p>
        </p:txBody>
      </p:sp>
      <p:sp>
        <p:nvSpPr>
          <p:cNvPr id="14" name="Text 12"/>
          <p:cNvSpPr/>
          <p:nvPr/>
        </p:nvSpPr>
        <p:spPr>
          <a:xfrm>
            <a:off x="793790" y="5647730"/>
            <a:ext cx="2859524"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Servo Motor Kontrolü</a:t>
            </a:r>
            <a:endParaRPr lang="en-US" sz="2200" dirty="0"/>
          </a:p>
        </p:txBody>
      </p:sp>
      <p:sp>
        <p:nvSpPr>
          <p:cNvPr id="15" name="Text 13"/>
          <p:cNvSpPr/>
          <p:nvPr/>
        </p:nvSpPr>
        <p:spPr>
          <a:xfrm>
            <a:off x="793790" y="6138148"/>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Güneş panelinin açısını ayarlamak için servo motorlar kullanılır. Belirlenen yöne göre servo motorlara komut gönderilir.</a:t>
            </a:r>
            <a:endParaRPr lang="en-US" sz="1750" dirty="0"/>
          </a:p>
        </p:txBody>
      </p:sp>
      <p:sp>
        <p:nvSpPr>
          <p:cNvPr id="16" name="Text 14"/>
          <p:cNvSpPr/>
          <p:nvPr/>
        </p:nvSpPr>
        <p:spPr>
          <a:xfrm>
            <a:off x="7428548" y="511837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04</a:t>
            </a:r>
            <a:endParaRPr lang="en-US" sz="1750" dirty="0"/>
          </a:p>
        </p:txBody>
      </p:sp>
      <p:sp>
        <p:nvSpPr>
          <p:cNvPr id="17" name="Shape 15"/>
          <p:cNvSpPr/>
          <p:nvPr/>
        </p:nvSpPr>
        <p:spPr>
          <a:xfrm>
            <a:off x="7428548" y="5473422"/>
            <a:ext cx="6408063" cy="30480"/>
          </a:xfrm>
          <a:prstGeom prst="rect">
            <a:avLst/>
          </a:prstGeom>
          <a:solidFill>
            <a:srgbClr val="D2600F"/>
          </a:solidFill>
          <a:ln/>
        </p:spPr>
        <p:txBody>
          <a:bodyPr/>
          <a:lstStyle/>
          <a:p>
            <a:endParaRPr lang="tr-TR"/>
          </a:p>
        </p:txBody>
      </p:sp>
      <p:sp>
        <p:nvSpPr>
          <p:cNvPr id="18" name="Text 16"/>
          <p:cNvSpPr/>
          <p:nvPr/>
        </p:nvSpPr>
        <p:spPr>
          <a:xfrm>
            <a:off x="7428548" y="564773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Hassasiyet Ayarı</a:t>
            </a:r>
            <a:endParaRPr lang="en-US" sz="2200" dirty="0"/>
          </a:p>
        </p:txBody>
      </p:sp>
      <p:sp>
        <p:nvSpPr>
          <p:cNvPr id="19" name="Text 17"/>
          <p:cNvSpPr/>
          <p:nvPr/>
        </p:nvSpPr>
        <p:spPr>
          <a:xfrm>
            <a:off x="7428548" y="6138148"/>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Küçük ışık değişimlerinde paneli sürekli hareket ettirmemek için bir histerezis (ölü bölge) değeri belirlenir.</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311825"/>
            <a:ext cx="3580090" cy="354330"/>
          </a:xfrm>
          <a:prstGeom prst="rect">
            <a:avLst/>
          </a:prstGeom>
          <a:noFill/>
          <a:ln/>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Arduino Kod Yapısı (Örnek)</a:t>
            </a:r>
            <a:endParaRPr lang="en-US" sz="2200" dirty="0"/>
          </a:p>
        </p:txBody>
      </p:sp>
      <p:sp>
        <p:nvSpPr>
          <p:cNvPr id="3" name="Text 1"/>
          <p:cNvSpPr/>
          <p:nvPr/>
        </p:nvSpPr>
        <p:spPr>
          <a:xfrm>
            <a:off x="396835" y="892969"/>
            <a:ext cx="13836729" cy="181451"/>
          </a:xfrm>
          <a:prstGeom prst="rect">
            <a:avLst/>
          </a:prstGeom>
          <a:noFill/>
          <a:ln/>
        </p:spPr>
        <p:txBody>
          <a:bodyPr wrap="non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Aşağıda, LDR okuma ve servo hareketini tetikleme mantığını gösteren temel bir kod bloğu bulunmaktadır.</a:t>
            </a:r>
            <a:endParaRPr lang="en-US" sz="850" dirty="0"/>
          </a:p>
        </p:txBody>
      </p:sp>
      <p:sp>
        <p:nvSpPr>
          <p:cNvPr id="6" name="Text 4"/>
          <p:cNvSpPr/>
          <p:nvPr/>
        </p:nvSpPr>
        <p:spPr>
          <a:xfrm>
            <a:off x="396835" y="1301233"/>
            <a:ext cx="10289245" cy="6716493"/>
          </a:xfrm>
          <a:prstGeom prst="rect">
            <a:avLst/>
          </a:prstGeom>
          <a:noFill/>
          <a:ln/>
        </p:spPr>
        <p:txBody>
          <a:bodyPr wrap="squar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#include &lt;Servo.h&gt;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#include &lt;LiquidCrystal.h&gt;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Servo motor </a:t>
            </a:r>
            <a:r>
              <a:rPr lang="en-US" sz="850" dirty="0" err="1">
                <a:solidFill>
                  <a:srgbClr val="2B2E3C"/>
                </a:solidFill>
                <a:highlight>
                  <a:srgbClr val="F2EBE3"/>
                </a:highlight>
                <a:latin typeface="Consolas" pitchFamily="34" charset="0"/>
                <a:ea typeface="Consolas" pitchFamily="34" charset="-122"/>
                <a:cs typeface="Consolas" pitchFamily="34" charset="-120"/>
              </a:rPr>
              <a:t>nesnelerini</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tanımla</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Servo panServo;  // Yatay hareket (pan)</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Servo tiltServo; // Dikey hareket (tilt)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LCD ekranın </a:t>
            </a:r>
            <a:r>
              <a:rPr lang="en-US" sz="850" dirty="0" err="1">
                <a:solidFill>
                  <a:srgbClr val="2B2E3C"/>
                </a:solidFill>
                <a:highlight>
                  <a:srgbClr val="F2EBE3"/>
                </a:highlight>
                <a:latin typeface="Consolas" pitchFamily="34" charset="0"/>
                <a:ea typeface="Consolas" pitchFamily="34" charset="-122"/>
                <a:cs typeface="Consolas" pitchFamily="34" charset="-120"/>
              </a:rPr>
              <a:t>pinlerini</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tanımla</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err="1">
                <a:solidFill>
                  <a:srgbClr val="2B2E3C"/>
                </a:solidFill>
                <a:highlight>
                  <a:srgbClr val="F2EBE3"/>
                </a:highlight>
                <a:latin typeface="Consolas" pitchFamily="34" charset="0"/>
                <a:ea typeface="Consolas" pitchFamily="34" charset="-122"/>
                <a:cs typeface="Consolas" pitchFamily="34" charset="-120"/>
              </a:rPr>
              <a:t>LiquidCrystal</a:t>
            </a:r>
            <a:r>
              <a:rPr lang="en-US" sz="850" dirty="0">
                <a:solidFill>
                  <a:srgbClr val="2B2E3C"/>
                </a:solidFill>
                <a:highlight>
                  <a:srgbClr val="F2EBE3"/>
                </a:highlight>
                <a:latin typeface="Consolas" pitchFamily="34" charset="0"/>
                <a:ea typeface="Consolas" pitchFamily="34" charset="-122"/>
                <a:cs typeface="Consolas" pitchFamily="34" charset="-120"/>
              </a:rPr>
              <a:t> lcd(12, 11, 5, 4, 3, 2);</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LDR sensör pinlerini tanımla// Görsele göre sensörler: Sol üst, sol alt, sağ üst, </a:t>
            </a:r>
            <a:r>
              <a:rPr lang="en-US" sz="850" dirty="0" err="1">
                <a:solidFill>
                  <a:srgbClr val="2B2E3C"/>
                </a:solidFill>
                <a:highlight>
                  <a:srgbClr val="F2EBE3"/>
                </a:highlight>
                <a:latin typeface="Consolas" pitchFamily="34" charset="0"/>
                <a:ea typeface="Consolas" pitchFamily="34" charset="-122"/>
                <a:cs typeface="Consolas" pitchFamily="34" charset="-120"/>
              </a:rPr>
              <a:t>sağ</a:t>
            </a:r>
            <a:r>
              <a:rPr lang="en-US" sz="850" dirty="0">
                <a:solidFill>
                  <a:srgbClr val="2B2E3C"/>
                </a:solidFill>
                <a:highlight>
                  <a:srgbClr val="F2EBE3"/>
                </a:highlight>
                <a:latin typeface="Consolas" pitchFamily="34" charset="0"/>
                <a:ea typeface="Consolas" pitchFamily="34" charset="-122"/>
                <a:cs typeface="Consolas" pitchFamily="34" charset="-120"/>
              </a:rPr>
              <a:t> alt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int LDR_solUst = A0;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int LDR_solAlt = A1;</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int LDR_sagUst = A2;</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int LDR_sagAlt = A3;</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Servo motorların başlangıç pozisyonlarıint panPosition = 90;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int tiltPosition = 90;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void setup() {</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 Seri </a:t>
            </a:r>
            <a:r>
              <a:rPr lang="en-US" sz="850" dirty="0" err="1">
                <a:solidFill>
                  <a:srgbClr val="2B2E3C"/>
                </a:solidFill>
                <a:highlight>
                  <a:srgbClr val="F2EBE3"/>
                </a:highlight>
                <a:latin typeface="Consolas" pitchFamily="34" charset="0"/>
                <a:ea typeface="Consolas" pitchFamily="34" charset="-122"/>
                <a:cs typeface="Consolas" pitchFamily="34" charset="-120"/>
              </a:rPr>
              <a:t>iletişimi</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başlat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Serial.begin(9600);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 Servo motorları ilgili </a:t>
            </a:r>
            <a:r>
              <a:rPr lang="en-US" sz="850" dirty="0" err="1">
                <a:solidFill>
                  <a:srgbClr val="2B2E3C"/>
                </a:solidFill>
                <a:highlight>
                  <a:srgbClr val="F2EBE3"/>
                </a:highlight>
                <a:latin typeface="Consolas" pitchFamily="34" charset="0"/>
                <a:ea typeface="Consolas" pitchFamily="34" charset="-122"/>
                <a:cs typeface="Consolas" pitchFamily="34" charset="-120"/>
              </a:rPr>
              <a:t>pinlere</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bağla</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panServo.attach(9);  tiltServo.attach(10);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 Servo motorları başlangıç </a:t>
            </a:r>
            <a:r>
              <a:rPr lang="en-US" sz="850" dirty="0" err="1">
                <a:solidFill>
                  <a:srgbClr val="2B2E3C"/>
                </a:solidFill>
                <a:highlight>
                  <a:srgbClr val="F2EBE3"/>
                </a:highlight>
                <a:latin typeface="Consolas" pitchFamily="34" charset="0"/>
                <a:ea typeface="Consolas" pitchFamily="34" charset="-122"/>
                <a:cs typeface="Consolas" pitchFamily="34" charset="-120"/>
              </a:rPr>
              <a:t>pozisyonlarına</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getir</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panServo.write(</a:t>
            </a:r>
            <a:r>
              <a:rPr lang="en-US" sz="850" dirty="0" err="1">
                <a:solidFill>
                  <a:srgbClr val="2B2E3C"/>
                </a:solidFill>
                <a:highlight>
                  <a:srgbClr val="F2EBE3"/>
                </a:highlight>
                <a:latin typeface="Consolas" pitchFamily="34" charset="0"/>
                <a:ea typeface="Consolas" pitchFamily="34" charset="-122"/>
                <a:cs typeface="Consolas" pitchFamily="34" charset="-120"/>
              </a:rPr>
              <a:t>panPosition</a:t>
            </a: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tiltServo.write(</a:t>
            </a:r>
            <a:r>
              <a:rPr lang="en-US" sz="850" dirty="0" err="1">
                <a:solidFill>
                  <a:srgbClr val="2B2E3C"/>
                </a:solidFill>
                <a:highlight>
                  <a:srgbClr val="F2EBE3"/>
                </a:highlight>
                <a:latin typeface="Consolas" pitchFamily="34" charset="0"/>
                <a:ea typeface="Consolas" pitchFamily="34" charset="-122"/>
                <a:cs typeface="Consolas" pitchFamily="34" charset="-120"/>
              </a:rPr>
              <a:t>tiltPosition</a:t>
            </a: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 LCD ekranı başlat ve sütun/satır </a:t>
            </a:r>
            <a:r>
              <a:rPr lang="en-US" sz="850" dirty="0" err="1">
                <a:solidFill>
                  <a:srgbClr val="2B2E3C"/>
                </a:solidFill>
                <a:highlight>
                  <a:srgbClr val="F2EBE3"/>
                </a:highlight>
                <a:latin typeface="Consolas" pitchFamily="34" charset="0"/>
                <a:ea typeface="Consolas" pitchFamily="34" charset="-122"/>
                <a:cs typeface="Consolas" pitchFamily="34" charset="-120"/>
              </a:rPr>
              <a:t>sayısını</a:t>
            </a: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ayarla</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lcd.begin(16, 2);  lcd.print("Solar Tracker");</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lcd.setCursor(0, 1);</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lcd.print("Hazir!");</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delay(2000);</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a:t>
            </a:r>
            <a:r>
              <a:rPr lang="en-US" sz="850" dirty="0" err="1">
                <a:solidFill>
                  <a:srgbClr val="2B2E3C"/>
                </a:solidFill>
                <a:highlight>
                  <a:srgbClr val="F2EBE3"/>
                </a:highlight>
                <a:latin typeface="Consolas" pitchFamily="34" charset="0"/>
                <a:ea typeface="Consolas" pitchFamily="34" charset="-122"/>
                <a:cs typeface="Consolas" pitchFamily="34" charset="-120"/>
              </a:rPr>
              <a:t>lcd.clear</a:t>
            </a: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void loop() {</a:t>
            </a:r>
            <a:endParaRPr lang="tr-TR" sz="850" dirty="0">
              <a:solidFill>
                <a:srgbClr val="2B2E3C"/>
              </a:solidFill>
              <a:highlight>
                <a:srgbClr val="F2EBE3"/>
              </a:highlight>
              <a:latin typeface="Consolas" pitchFamily="34" charset="0"/>
              <a:ea typeface="Consolas" pitchFamily="34" charset="-122"/>
              <a:cs typeface="Consolas" pitchFamily="34" charset="-120"/>
            </a:endParaRPr>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 LDR sensörlerinden değerleri oku  int solUstDeger = analogRead(LDR_solUst);  int solAltDeger = analogRead(LDR_solAlt);  int sagUstDeger = analogRead(LDR_sagUst);  int sagAltDeger = analogRead(LDR_sagAlt);  // Sol ve sağ grup ortalamalarını hesapla  int solDeger = (solUstDeger + solAltDeger) / 2;  int sagDeger = (sagUstDeger + sagAltDeger) / 2;  // Üst ve alt grup ortalamalarını hesapla  int ustDeger = (solUstDeger + sagUstDeger) / 2;  int altDeger = (solAltDeger + sagAltDeger) / 2;  // Hata payı (hassasiyet) değeri  int hataPayi = 10;  // Yatay (Pan) hareketini kontrol et  if (abs(solDeger - sagDeger) &gt; hataPayi) {    if (solDeger &gt; sagDeger) {      // Işık soldaysa, paneli sola çevir      panPosition = panPosition - 1;      if (panPosition &lt; 0) {        panPosition = 0;      }    } else {      // Işık sağdaysa, paneli sağa çevir      panPosition = panPosition + 1;      if (panPosition &gt; 180) {        panPosition = 180;      }    }</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75115"/>
            <a:ext cx="8919686"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Proteus ile Elektronik Simülasyon</a:t>
            </a:r>
            <a:endParaRPr lang="en-US" sz="4450" dirty="0"/>
          </a:p>
        </p:txBody>
      </p:sp>
      <p:sp>
        <p:nvSpPr>
          <p:cNvPr id="3" name="Text 1"/>
          <p:cNvSpPr/>
          <p:nvPr/>
        </p:nvSpPr>
        <p:spPr>
          <a:xfrm>
            <a:off x="793790" y="303752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Devre şemasının detaylı tasarımı ve bileşenlerin etkileşiminin analizi için Proteus ISIS yazılımı kullanılmıştır. Proteus, elektronik devrelerin çalışmasını gerçek zamanlı olarak simüle etme imkanı sunar.</a:t>
            </a:r>
            <a:endParaRPr lang="en-US" sz="1750" dirty="0"/>
          </a:p>
        </p:txBody>
      </p:sp>
      <p:sp>
        <p:nvSpPr>
          <p:cNvPr id="4" name="Text 2"/>
          <p:cNvSpPr/>
          <p:nvPr/>
        </p:nvSpPr>
        <p:spPr>
          <a:xfrm>
            <a:off x="793790" y="4018478"/>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Bileşen Kütüphanesi:</a:t>
            </a:r>
            <a:r>
              <a:rPr lang="en-US" sz="1750" dirty="0">
                <a:solidFill>
                  <a:srgbClr val="2B2E3C"/>
                </a:solidFill>
                <a:latin typeface="Open Sans" pitchFamily="34" charset="0"/>
                <a:ea typeface="Open Sans" pitchFamily="34" charset="-122"/>
                <a:cs typeface="Open Sans" pitchFamily="34" charset="-120"/>
              </a:rPr>
              <a:t> Arduino, LDR'ler ve servo motorlar gibi tüm gereken bileşenlerin sanal modelleri Proteus kütüphanesinden temin edilmiştir.</a:t>
            </a:r>
            <a:endParaRPr lang="en-US" sz="1750" dirty="0"/>
          </a:p>
        </p:txBody>
      </p:sp>
      <p:sp>
        <p:nvSpPr>
          <p:cNvPr id="5" name="Text 3"/>
          <p:cNvSpPr/>
          <p:nvPr/>
        </p:nvSpPr>
        <p:spPr>
          <a:xfrm>
            <a:off x="793790" y="4823579"/>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Gerçekçi Davranış:</a:t>
            </a:r>
            <a:r>
              <a:rPr lang="en-US" sz="1750" dirty="0">
                <a:solidFill>
                  <a:srgbClr val="2B2E3C"/>
                </a:solidFill>
                <a:latin typeface="Open Sans" pitchFamily="34" charset="0"/>
                <a:ea typeface="Open Sans" pitchFamily="34" charset="-122"/>
                <a:cs typeface="Open Sans" pitchFamily="34" charset="-120"/>
              </a:rPr>
              <a:t> Her bir bileşenin elektriksel özellikleri simülasyona dahil edilerek, devrenin fiziksel dünyadaki davranışına yakın bir analiz yapılmıştır.</a:t>
            </a:r>
            <a:endParaRPr lang="en-US" sz="1750" dirty="0"/>
          </a:p>
        </p:txBody>
      </p:sp>
      <p:sp>
        <p:nvSpPr>
          <p:cNvPr id="6" name="Text 4"/>
          <p:cNvSpPr/>
          <p:nvPr/>
        </p:nvSpPr>
        <p:spPr>
          <a:xfrm>
            <a:off x="793790" y="5628680"/>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Hata Ayıklama:</a:t>
            </a:r>
            <a:r>
              <a:rPr lang="en-US" sz="1750" dirty="0">
                <a:solidFill>
                  <a:srgbClr val="2B2E3C"/>
                </a:solidFill>
                <a:latin typeface="Open Sans" pitchFamily="34" charset="0"/>
                <a:ea typeface="Open Sans" pitchFamily="34" charset="-122"/>
                <a:cs typeface="Open Sans" pitchFamily="34" charset="-120"/>
              </a:rPr>
              <a:t> Potansiyel bağlantı hataları veya yazılımsal sorunlar fiziksel donanım zarar görmeden Proteus ortamında tespit edilmiştir.</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10708"/>
            <a:ext cx="5762268"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Proteus Devre Şeması</a:t>
            </a:r>
            <a:endParaRPr lang="en-US" sz="4450" dirty="0"/>
          </a:p>
        </p:txBody>
      </p:sp>
      <p:sp>
        <p:nvSpPr>
          <p:cNvPr id="3" name="Text 1"/>
          <p:cNvSpPr/>
          <p:nvPr/>
        </p:nvSpPr>
        <p:spPr>
          <a:xfrm>
            <a:off x="793790" y="91948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Aşağıda, güneş takip sisteminin Proteus ortamında tasarlanmış detaylı devre şeması yer almaktadır. Bu şema, bileşenlerin elektriksel bağlantılarını ve sinyal akışını net bir şekilde göstermektedir.</a:t>
            </a:r>
            <a:endParaRPr lang="en-US" sz="1750" dirty="0"/>
          </a:p>
        </p:txBody>
      </p:sp>
      <p:pic>
        <p:nvPicPr>
          <p:cNvPr id="5" name="Resim 4" descr="metin, diyagram, çizgi, ekran görüntüsü içeren bir resim&#10;&#10;Yapay zeka tarafından oluşturulmuş içerik yanlış olabilir.">
            <a:extLst>
              <a:ext uri="{FF2B5EF4-FFF2-40B4-BE49-F238E27FC236}">
                <a16:creationId xmlns:a16="http://schemas.microsoft.com/office/drawing/2014/main" id="{FAEC2E5D-FAB8-4AC2-DDF5-FEE05DB28590}"/>
              </a:ext>
            </a:extLst>
          </p:cNvPr>
          <p:cNvPicPr>
            <a:picLocks noChangeAspect="1"/>
          </p:cNvPicPr>
          <p:nvPr/>
        </p:nvPicPr>
        <p:blipFill>
          <a:blip r:embed="rId3"/>
          <a:stretch>
            <a:fillRect/>
          </a:stretch>
        </p:blipFill>
        <p:spPr>
          <a:xfrm>
            <a:off x="793789" y="1795346"/>
            <a:ext cx="13042821" cy="60662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23618"/>
            <a:ext cx="9520714"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Proteus Devre Bağlantı Açıklamaları</a:t>
            </a:r>
            <a:endParaRPr lang="en-US" sz="4450" dirty="0"/>
          </a:p>
        </p:txBody>
      </p:sp>
      <p:sp>
        <p:nvSpPr>
          <p:cNvPr id="3" name="Text 1"/>
          <p:cNvSpPr/>
          <p:nvPr/>
        </p:nvSpPr>
        <p:spPr>
          <a:xfrm>
            <a:off x="793790" y="248602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Proteus üzerinde oluşturulan devredeki ana bağlantı noktaları ve işlevleri:</a:t>
            </a:r>
            <a:endParaRPr lang="en-US" sz="1750" dirty="0"/>
          </a:p>
        </p:txBody>
      </p:sp>
      <p:sp>
        <p:nvSpPr>
          <p:cNvPr id="4" name="Shape 2"/>
          <p:cNvSpPr/>
          <p:nvPr/>
        </p:nvSpPr>
        <p:spPr>
          <a:xfrm>
            <a:off x="793790" y="3104078"/>
            <a:ext cx="4196358" cy="680442"/>
          </a:xfrm>
          <a:prstGeom prst="roundRect">
            <a:avLst>
              <a:gd name="adj" fmla="val 480029"/>
            </a:avLst>
          </a:prstGeom>
          <a:solidFill>
            <a:srgbClr val="FCE2CF"/>
          </a:solidFill>
          <a:ln w="7620">
            <a:solidFill>
              <a:srgbClr val="E2C8B5"/>
            </a:solidFill>
            <a:prstDash val="solid"/>
          </a:ln>
        </p:spPr>
        <p:txBody>
          <a:bodyPr/>
          <a:lstStyle/>
          <a:p>
            <a:endParaRPr lang="tr-TR"/>
          </a:p>
        </p:txBody>
      </p:sp>
      <p:sp>
        <p:nvSpPr>
          <p:cNvPr id="5" name="Text 3"/>
          <p:cNvSpPr/>
          <p:nvPr/>
        </p:nvSpPr>
        <p:spPr>
          <a:xfrm>
            <a:off x="2721888" y="3231594"/>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2B2E3C"/>
                </a:solidFill>
                <a:latin typeface="Bitter Medium" pitchFamily="34" charset="0"/>
                <a:ea typeface="Bitter Medium" pitchFamily="34" charset="-122"/>
                <a:cs typeface="Bitter Medium" pitchFamily="34" charset="-120"/>
              </a:rPr>
              <a:t>1</a:t>
            </a:r>
            <a:endParaRPr lang="en-US" sz="2650" dirty="0"/>
          </a:p>
        </p:txBody>
      </p:sp>
      <p:sp>
        <p:nvSpPr>
          <p:cNvPr id="6" name="Text 4"/>
          <p:cNvSpPr/>
          <p:nvPr/>
        </p:nvSpPr>
        <p:spPr>
          <a:xfrm>
            <a:off x="1020604" y="40113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LDR Sensörleri</a:t>
            </a:r>
            <a:endParaRPr lang="en-US" sz="2200" dirty="0"/>
          </a:p>
        </p:txBody>
      </p:sp>
      <p:sp>
        <p:nvSpPr>
          <p:cNvPr id="7" name="Text 5"/>
          <p:cNvSpPr/>
          <p:nvPr/>
        </p:nvSpPr>
        <p:spPr>
          <a:xfrm>
            <a:off x="1020604" y="4501753"/>
            <a:ext cx="3742730" cy="217741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Her bir LDR, bir voltaj bölücü direnç ile birlikte Arduino'nun analog pinlerine (A0-A3) bağlanır. Bu sayede ışık yoğunluğundaki değişimler voltaj değişimine dönüştürülür.</a:t>
            </a:r>
            <a:endParaRPr lang="en-US" sz="1750" dirty="0"/>
          </a:p>
        </p:txBody>
      </p:sp>
      <p:sp>
        <p:nvSpPr>
          <p:cNvPr id="8" name="Shape 6"/>
          <p:cNvSpPr/>
          <p:nvPr/>
        </p:nvSpPr>
        <p:spPr>
          <a:xfrm>
            <a:off x="5216962" y="3104078"/>
            <a:ext cx="4196358" cy="680442"/>
          </a:xfrm>
          <a:prstGeom prst="roundRect">
            <a:avLst>
              <a:gd name="adj" fmla="val 480029"/>
            </a:avLst>
          </a:prstGeom>
          <a:solidFill>
            <a:srgbClr val="FCE2CF"/>
          </a:solidFill>
          <a:ln w="7620">
            <a:solidFill>
              <a:srgbClr val="E2C8B5"/>
            </a:solidFill>
            <a:prstDash val="solid"/>
          </a:ln>
        </p:spPr>
        <p:txBody>
          <a:bodyPr/>
          <a:lstStyle/>
          <a:p>
            <a:endParaRPr lang="tr-TR"/>
          </a:p>
        </p:txBody>
      </p:sp>
      <p:sp>
        <p:nvSpPr>
          <p:cNvPr id="9" name="Text 7"/>
          <p:cNvSpPr/>
          <p:nvPr/>
        </p:nvSpPr>
        <p:spPr>
          <a:xfrm>
            <a:off x="7145060" y="3231594"/>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2B2E3C"/>
                </a:solidFill>
                <a:latin typeface="Bitter Medium" pitchFamily="34" charset="0"/>
                <a:ea typeface="Bitter Medium" pitchFamily="34" charset="-122"/>
                <a:cs typeface="Bitter Medium" pitchFamily="34" charset="-120"/>
              </a:rPr>
              <a:t>2</a:t>
            </a:r>
            <a:endParaRPr lang="en-US" sz="2650" dirty="0"/>
          </a:p>
        </p:txBody>
      </p:sp>
      <p:sp>
        <p:nvSpPr>
          <p:cNvPr id="10" name="Text 8"/>
          <p:cNvSpPr/>
          <p:nvPr/>
        </p:nvSpPr>
        <p:spPr>
          <a:xfrm>
            <a:off x="5443776" y="40113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Servo Motorlar</a:t>
            </a:r>
            <a:endParaRPr lang="en-US" sz="2200" dirty="0"/>
          </a:p>
        </p:txBody>
      </p:sp>
      <p:sp>
        <p:nvSpPr>
          <p:cNvPr id="11" name="Text 9"/>
          <p:cNvSpPr/>
          <p:nvPr/>
        </p:nvSpPr>
        <p:spPr>
          <a:xfrm>
            <a:off x="5443776" y="4501753"/>
            <a:ext cx="3742730" cy="217741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Güneş panelinin yatay ve dikey hareketini sağlayan iki servo motor, Arduino'nun PWM özellikli dijital pinlerine (örn. 9 ve 10) bağlanır. Güç beslemesi ayrı bir kaynaktan da sağlanabilir.</a:t>
            </a:r>
            <a:endParaRPr lang="en-US" sz="1750" dirty="0"/>
          </a:p>
        </p:txBody>
      </p:sp>
      <p:sp>
        <p:nvSpPr>
          <p:cNvPr id="12" name="Shape 10"/>
          <p:cNvSpPr/>
          <p:nvPr/>
        </p:nvSpPr>
        <p:spPr>
          <a:xfrm>
            <a:off x="9640133" y="3104078"/>
            <a:ext cx="4196358" cy="680442"/>
          </a:xfrm>
          <a:prstGeom prst="roundRect">
            <a:avLst>
              <a:gd name="adj" fmla="val 480029"/>
            </a:avLst>
          </a:prstGeom>
          <a:solidFill>
            <a:srgbClr val="FCE2CF"/>
          </a:solidFill>
          <a:ln w="7620">
            <a:solidFill>
              <a:srgbClr val="E2C8B5"/>
            </a:solidFill>
            <a:prstDash val="solid"/>
          </a:ln>
        </p:spPr>
        <p:txBody>
          <a:bodyPr/>
          <a:lstStyle/>
          <a:p>
            <a:endParaRPr lang="tr-TR"/>
          </a:p>
        </p:txBody>
      </p:sp>
      <p:sp>
        <p:nvSpPr>
          <p:cNvPr id="13" name="Text 11"/>
          <p:cNvSpPr/>
          <p:nvPr/>
        </p:nvSpPr>
        <p:spPr>
          <a:xfrm>
            <a:off x="11568232" y="3231594"/>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2B2E3C"/>
                </a:solidFill>
                <a:latin typeface="Bitter Medium" pitchFamily="34" charset="0"/>
                <a:ea typeface="Bitter Medium" pitchFamily="34" charset="-122"/>
                <a:cs typeface="Bitter Medium" pitchFamily="34" charset="-120"/>
              </a:rPr>
              <a:t>3</a:t>
            </a:r>
            <a:endParaRPr lang="en-US" sz="2650" dirty="0"/>
          </a:p>
        </p:txBody>
      </p:sp>
      <p:sp>
        <p:nvSpPr>
          <p:cNvPr id="14" name="Text 12"/>
          <p:cNvSpPr/>
          <p:nvPr/>
        </p:nvSpPr>
        <p:spPr>
          <a:xfrm>
            <a:off x="9866948" y="40113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Güç ve Toprak</a:t>
            </a:r>
            <a:endParaRPr lang="en-US" sz="2200" dirty="0"/>
          </a:p>
        </p:txBody>
      </p:sp>
      <p:sp>
        <p:nvSpPr>
          <p:cNvPr id="15" name="Text 13"/>
          <p:cNvSpPr/>
          <p:nvPr/>
        </p:nvSpPr>
        <p:spPr>
          <a:xfrm>
            <a:off x="9866948" y="4501753"/>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Arduino kartı ve diğer tüm bileşenler için istikrarlı bir 5V güç beslemesi ve ortak toprak (GND) bağlantıları sağlanır.</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96886"/>
            <a:ext cx="8539877"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Basılı Devre Kartı (PCB) Tasarımı</a:t>
            </a:r>
            <a:endParaRPr lang="en-US" sz="4450" dirty="0"/>
          </a:p>
        </p:txBody>
      </p:sp>
      <p:sp>
        <p:nvSpPr>
          <p:cNvPr id="3" name="Text 1"/>
          <p:cNvSpPr/>
          <p:nvPr/>
        </p:nvSpPr>
        <p:spPr>
          <a:xfrm>
            <a:off x="793790" y="111360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Güneş takip sistemi projesinin son aşamalarından biri, tasarlanan elektronik devrenin fiziksel olarak hayata geçirilmesi için Basılı Devre Kartı (PCB) taslağının oluşturulmasıdır. Bu aşama, karmaşık kablolamayı ortadan kaldırarak daha düzenli, güvenilir ve kompakt bir yapı sağlar.</a:t>
            </a:r>
            <a:endParaRPr lang="en-US" sz="1750" dirty="0"/>
          </a:p>
        </p:txBody>
      </p:sp>
      <p:pic>
        <p:nvPicPr>
          <p:cNvPr id="5" name="Resim 4" descr="ekran görüntüsü, renklilik içeren bir resim&#10;&#10;Yapay zeka tarafından oluşturulmuş içerik yanlış olabilir.">
            <a:extLst>
              <a:ext uri="{FF2B5EF4-FFF2-40B4-BE49-F238E27FC236}">
                <a16:creationId xmlns:a16="http://schemas.microsoft.com/office/drawing/2014/main" id="{B2C78AFE-244F-1096-89AD-47276EF70949}"/>
              </a:ext>
            </a:extLst>
          </p:cNvPr>
          <p:cNvPicPr>
            <a:picLocks noChangeAspect="1"/>
          </p:cNvPicPr>
          <p:nvPr/>
        </p:nvPicPr>
        <p:blipFill>
          <a:blip r:embed="rId3"/>
          <a:stretch>
            <a:fillRect/>
          </a:stretch>
        </p:blipFill>
        <p:spPr>
          <a:xfrm>
            <a:off x="1046875" y="2310255"/>
            <a:ext cx="12536650" cy="53912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837611"/>
            <a:ext cx="8539877"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Basılı Devre Kartı (PCB) Tasarımı</a:t>
            </a:r>
            <a:endParaRPr lang="en-US" sz="4450" dirty="0"/>
          </a:p>
        </p:txBody>
      </p:sp>
      <p:sp>
        <p:nvSpPr>
          <p:cNvPr id="3" name="Text 1"/>
          <p:cNvSpPr/>
          <p:nvPr/>
        </p:nvSpPr>
        <p:spPr>
          <a:xfrm>
            <a:off x="793790" y="300001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Simülasyon aşamalarını başarıyla tamamladıktan sonra, projenin daha kalıcı ve düzenli bir hale gelmesi için PCB tasarımına geçilmiştir.</a:t>
            </a:r>
            <a:endParaRPr lang="en-US" sz="1750" dirty="0"/>
          </a:p>
        </p:txBody>
      </p:sp>
      <p:sp>
        <p:nvSpPr>
          <p:cNvPr id="4" name="Shape 2"/>
          <p:cNvSpPr/>
          <p:nvPr/>
        </p:nvSpPr>
        <p:spPr>
          <a:xfrm>
            <a:off x="793790" y="3980974"/>
            <a:ext cx="13042821" cy="2410897"/>
          </a:xfrm>
          <a:prstGeom prst="roundRect">
            <a:avLst>
              <a:gd name="adj" fmla="val 3952"/>
            </a:avLst>
          </a:prstGeom>
          <a:solidFill>
            <a:srgbClr val="FCE2CF"/>
          </a:solidFill>
          <a:ln w="7620">
            <a:solidFill>
              <a:srgbClr val="E2C8B5"/>
            </a:solidFill>
            <a:prstDash val="solid"/>
          </a:ln>
        </p:spPr>
        <p:txBody>
          <a:bodyPr/>
          <a:lstStyle/>
          <a:p>
            <a:endParaRPr lang="tr-TR"/>
          </a:p>
        </p:txBody>
      </p:sp>
      <p:sp>
        <p:nvSpPr>
          <p:cNvPr id="5" name="Shape 3"/>
          <p:cNvSpPr/>
          <p:nvPr/>
        </p:nvSpPr>
        <p:spPr>
          <a:xfrm>
            <a:off x="801410" y="3988594"/>
            <a:ext cx="4342448" cy="2395657"/>
          </a:xfrm>
          <a:prstGeom prst="roundRect">
            <a:avLst>
              <a:gd name="adj" fmla="val 3977"/>
            </a:avLst>
          </a:prstGeom>
          <a:solidFill>
            <a:srgbClr val="FCE2CF"/>
          </a:solidFill>
          <a:ln/>
        </p:spPr>
        <p:txBody>
          <a:bodyPr/>
          <a:lstStyle/>
          <a:p>
            <a:endParaRPr lang="tr-TR"/>
          </a:p>
        </p:txBody>
      </p:sp>
      <p:sp>
        <p:nvSpPr>
          <p:cNvPr id="6" name="Text 4"/>
          <p:cNvSpPr/>
          <p:nvPr/>
        </p:nvSpPr>
        <p:spPr>
          <a:xfrm>
            <a:off x="1028224"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Yerleşimin Önemi</a:t>
            </a:r>
            <a:endParaRPr lang="en-US" sz="2200" dirty="0"/>
          </a:p>
        </p:txBody>
      </p:sp>
      <p:sp>
        <p:nvSpPr>
          <p:cNvPr id="7" name="Text 5"/>
          <p:cNvSpPr/>
          <p:nvPr/>
        </p:nvSpPr>
        <p:spPr>
          <a:xfrm>
            <a:off x="1028224" y="4705826"/>
            <a:ext cx="3888819"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Bileşenlerin fiziksel yerleşimi ve yolların (trace) çizimi, sinyal bütünlüğünü ve sistemin stabilitesini doğrudan etkiler.</a:t>
            </a:r>
            <a:endParaRPr lang="en-US" sz="1750" dirty="0"/>
          </a:p>
        </p:txBody>
      </p:sp>
      <p:sp>
        <p:nvSpPr>
          <p:cNvPr id="8" name="Shape 6"/>
          <p:cNvSpPr/>
          <p:nvPr/>
        </p:nvSpPr>
        <p:spPr>
          <a:xfrm>
            <a:off x="5143857" y="3988594"/>
            <a:ext cx="4342567" cy="2395657"/>
          </a:xfrm>
          <a:prstGeom prst="rect">
            <a:avLst/>
          </a:prstGeom>
          <a:solidFill>
            <a:srgbClr val="FCE2CF"/>
          </a:solidFill>
          <a:ln/>
        </p:spPr>
        <p:txBody>
          <a:bodyPr/>
          <a:lstStyle/>
          <a:p>
            <a:endParaRPr lang="tr-TR"/>
          </a:p>
        </p:txBody>
      </p:sp>
      <p:sp>
        <p:nvSpPr>
          <p:cNvPr id="9" name="Shape 7"/>
          <p:cNvSpPr/>
          <p:nvPr/>
        </p:nvSpPr>
        <p:spPr>
          <a:xfrm>
            <a:off x="5143857" y="3988594"/>
            <a:ext cx="30480" cy="2395657"/>
          </a:xfrm>
          <a:prstGeom prst="roundRect">
            <a:avLst>
              <a:gd name="adj" fmla="val 312558"/>
            </a:avLst>
          </a:prstGeom>
          <a:solidFill>
            <a:srgbClr val="E2C8B5"/>
          </a:solidFill>
          <a:ln/>
        </p:spPr>
        <p:txBody>
          <a:bodyPr/>
          <a:lstStyle/>
          <a:p>
            <a:endParaRPr lang="tr-TR"/>
          </a:p>
        </p:txBody>
      </p:sp>
      <p:sp>
        <p:nvSpPr>
          <p:cNvPr id="10" name="Text 8"/>
          <p:cNvSpPr/>
          <p:nvPr/>
        </p:nvSpPr>
        <p:spPr>
          <a:xfrm>
            <a:off x="5370671" y="4215408"/>
            <a:ext cx="2922151"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Profesyonel Görünüm</a:t>
            </a:r>
            <a:endParaRPr lang="en-US" sz="2200" dirty="0"/>
          </a:p>
        </p:txBody>
      </p:sp>
      <p:sp>
        <p:nvSpPr>
          <p:cNvPr id="11" name="Text 9"/>
          <p:cNvSpPr/>
          <p:nvPr/>
        </p:nvSpPr>
        <p:spPr>
          <a:xfrm>
            <a:off x="5370671" y="4705826"/>
            <a:ext cx="3888938"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PCB kullanımı, devrenin daha kompakt, dayanıklı ve estetik olmasını sağlar. Kablo karmaşasını ortadan kaldırır.</a:t>
            </a:r>
            <a:endParaRPr lang="en-US" sz="1750" dirty="0"/>
          </a:p>
        </p:txBody>
      </p:sp>
      <p:sp>
        <p:nvSpPr>
          <p:cNvPr id="12" name="Shape 10"/>
          <p:cNvSpPr/>
          <p:nvPr/>
        </p:nvSpPr>
        <p:spPr>
          <a:xfrm>
            <a:off x="9486424" y="3988594"/>
            <a:ext cx="4342567" cy="2395657"/>
          </a:xfrm>
          <a:prstGeom prst="rect">
            <a:avLst/>
          </a:prstGeom>
          <a:solidFill>
            <a:srgbClr val="FCE2CF"/>
          </a:solidFill>
          <a:ln/>
        </p:spPr>
        <p:txBody>
          <a:bodyPr/>
          <a:lstStyle/>
          <a:p>
            <a:endParaRPr lang="tr-TR"/>
          </a:p>
        </p:txBody>
      </p:sp>
      <p:sp>
        <p:nvSpPr>
          <p:cNvPr id="13" name="Shape 11"/>
          <p:cNvSpPr/>
          <p:nvPr/>
        </p:nvSpPr>
        <p:spPr>
          <a:xfrm>
            <a:off x="9486424" y="3988594"/>
            <a:ext cx="30480" cy="2395657"/>
          </a:xfrm>
          <a:prstGeom prst="roundRect">
            <a:avLst>
              <a:gd name="adj" fmla="val 312558"/>
            </a:avLst>
          </a:prstGeom>
          <a:solidFill>
            <a:srgbClr val="E2C8B5"/>
          </a:solidFill>
          <a:ln/>
        </p:spPr>
        <p:txBody>
          <a:bodyPr/>
          <a:lstStyle/>
          <a:p>
            <a:endParaRPr lang="tr-TR"/>
          </a:p>
        </p:txBody>
      </p:sp>
      <p:sp>
        <p:nvSpPr>
          <p:cNvPr id="14" name="Text 12"/>
          <p:cNvSpPr/>
          <p:nvPr/>
        </p:nvSpPr>
        <p:spPr>
          <a:xfrm>
            <a:off x="9713238"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Üretim Kolaylığı</a:t>
            </a:r>
            <a:endParaRPr lang="en-US" sz="2200" dirty="0"/>
          </a:p>
        </p:txBody>
      </p:sp>
      <p:sp>
        <p:nvSpPr>
          <p:cNvPr id="15" name="Text 13"/>
          <p:cNvSpPr/>
          <p:nvPr/>
        </p:nvSpPr>
        <p:spPr>
          <a:xfrm>
            <a:off x="9713238" y="4705826"/>
            <a:ext cx="3888938"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Hazırlanan Gerber dosyaları ile PCB üretimi kolayca yapılabilir, böylece sistemin seri üretimi veya tekrarı mümkün hale gelir.</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51134"/>
            <a:ext cx="998220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Basılı Devre Kartı (PCB) 3D Görünümü</a:t>
            </a:r>
            <a:endParaRPr lang="en-US" sz="4450" dirty="0"/>
          </a:p>
        </p:txBody>
      </p:sp>
      <p:sp>
        <p:nvSpPr>
          <p:cNvPr id="3" name="Text 1"/>
          <p:cNvSpPr/>
          <p:nvPr/>
        </p:nvSpPr>
        <p:spPr>
          <a:xfrm>
            <a:off x="793790" y="911412"/>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Proteus'ta yapılan devre şemasının ardından, sistemin fiziksel üretimi için oluşturulan 3D PCB tasarımı aşağıda sunulmuştur. Bu görsel, bileşenlerin kart üzerindeki yerleşimini, bağlantı yollarını ve genel mekanik yapıyı detaylı bir şekilde gözler önüne serer. Üretimden önce potansiyel sorunları belirlemek ve tasarımın fiziksel uygulanabilirliğini doğrulamak için kritik bir adımdır.</a:t>
            </a:r>
            <a:endParaRPr lang="en-US" sz="1750" dirty="0"/>
          </a:p>
        </p:txBody>
      </p:sp>
      <p:pic>
        <p:nvPicPr>
          <p:cNvPr id="5" name="Resim 4" descr="ekran görüntüsü, diyagram, renklilik, tasarım içeren bir resim&#10;&#10;Yapay zeka tarafından oluşturulmuş içerik yanlış olabilir.">
            <a:extLst>
              <a:ext uri="{FF2B5EF4-FFF2-40B4-BE49-F238E27FC236}">
                <a16:creationId xmlns:a16="http://schemas.microsoft.com/office/drawing/2014/main" id="{9B36C020-6624-DB15-E336-4C026827BDB3}"/>
              </a:ext>
            </a:extLst>
          </p:cNvPr>
          <p:cNvPicPr>
            <a:picLocks noChangeAspect="1"/>
          </p:cNvPicPr>
          <p:nvPr/>
        </p:nvPicPr>
        <p:blipFill>
          <a:blip r:embed="rId3"/>
          <a:stretch>
            <a:fillRect/>
          </a:stretch>
        </p:blipFill>
        <p:spPr>
          <a:xfrm>
            <a:off x="793789" y="2662926"/>
            <a:ext cx="6376445" cy="5020264"/>
          </a:xfrm>
          <a:prstGeom prst="rect">
            <a:avLst/>
          </a:prstGeom>
        </p:spPr>
      </p:pic>
      <p:pic>
        <p:nvPicPr>
          <p:cNvPr id="7" name="Resim 6" descr="ekran görüntüsü, yeşil, metin içeren bir resim&#10;&#10;Yapay zeka tarafından oluşturulmuş içerik yanlış olabilir.">
            <a:extLst>
              <a:ext uri="{FF2B5EF4-FFF2-40B4-BE49-F238E27FC236}">
                <a16:creationId xmlns:a16="http://schemas.microsoft.com/office/drawing/2014/main" id="{47BC56C4-D955-4C36-5B5E-93C63E3310AC}"/>
              </a:ext>
            </a:extLst>
          </p:cNvPr>
          <p:cNvPicPr>
            <a:picLocks noChangeAspect="1"/>
          </p:cNvPicPr>
          <p:nvPr/>
        </p:nvPicPr>
        <p:blipFill>
          <a:blip r:embed="rId4"/>
          <a:stretch>
            <a:fillRect/>
          </a:stretch>
        </p:blipFill>
        <p:spPr>
          <a:xfrm>
            <a:off x="7783552" y="2662926"/>
            <a:ext cx="6053060" cy="50202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99730"/>
            <a:ext cx="7584519"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Sonuç ve Gelecek Çalışmalar</a:t>
            </a:r>
            <a:endParaRPr lang="en-US" sz="4450" dirty="0"/>
          </a:p>
        </p:txBody>
      </p:sp>
      <p:sp>
        <p:nvSpPr>
          <p:cNvPr id="3" name="Text 1"/>
          <p:cNvSpPr/>
          <p:nvPr/>
        </p:nvSpPr>
        <p:spPr>
          <a:xfrm>
            <a:off x="793790" y="186213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Bu basit solar tracker simülasyonu, güneş paneli verimliliğini artırma potansiyelini ve temel elektronik prensiplerini net bir şekilde göstermektedir.</a:t>
            </a:r>
            <a:endParaRPr lang="en-US" sz="1750" dirty="0"/>
          </a:p>
        </p:txBody>
      </p:sp>
      <p:sp>
        <p:nvSpPr>
          <p:cNvPr id="4" name="Shape 2"/>
          <p:cNvSpPr/>
          <p:nvPr/>
        </p:nvSpPr>
        <p:spPr>
          <a:xfrm>
            <a:off x="793790" y="2843093"/>
            <a:ext cx="6407944" cy="2683312"/>
          </a:xfrm>
          <a:prstGeom prst="roundRect">
            <a:avLst>
              <a:gd name="adj" fmla="val 3550"/>
            </a:avLst>
          </a:prstGeom>
          <a:solidFill>
            <a:srgbClr val="FFF8F0"/>
          </a:solidFill>
          <a:ln w="30480">
            <a:solidFill>
              <a:srgbClr val="E2C8B5"/>
            </a:solidFill>
            <a:prstDash val="solid"/>
          </a:ln>
        </p:spPr>
        <p:txBody>
          <a:bodyPr/>
          <a:lstStyle/>
          <a:p>
            <a:endParaRPr lang="tr-TR"/>
          </a:p>
        </p:txBody>
      </p:sp>
      <p:pic>
        <p:nvPicPr>
          <p:cNvPr id="5" name="Image 0" descr="preencoded.png"/>
          <p:cNvPicPr>
            <a:picLocks noChangeAspect="1"/>
          </p:cNvPicPr>
          <p:nvPr/>
        </p:nvPicPr>
        <p:blipFill>
          <a:blip r:embed="rId3"/>
          <a:stretch>
            <a:fillRect/>
          </a:stretch>
        </p:blipFill>
        <p:spPr>
          <a:xfrm>
            <a:off x="688181" y="2737485"/>
            <a:ext cx="272177" cy="272177"/>
          </a:xfrm>
          <a:prstGeom prst="rect">
            <a:avLst/>
          </a:prstGeom>
        </p:spPr>
      </p:pic>
      <p:pic>
        <p:nvPicPr>
          <p:cNvPr id="6" name="Image 1" descr="preencoded.png"/>
          <p:cNvPicPr>
            <a:picLocks noChangeAspect="1"/>
          </p:cNvPicPr>
          <p:nvPr/>
        </p:nvPicPr>
        <p:blipFill>
          <a:blip r:embed="rId3"/>
          <a:stretch>
            <a:fillRect/>
          </a:stretch>
        </p:blipFill>
        <p:spPr>
          <a:xfrm>
            <a:off x="7035165" y="5359837"/>
            <a:ext cx="272177" cy="272177"/>
          </a:xfrm>
          <a:prstGeom prst="rect">
            <a:avLst/>
          </a:prstGeom>
        </p:spPr>
      </p:pic>
      <p:sp>
        <p:nvSpPr>
          <p:cNvPr id="7" name="Text 3"/>
          <p:cNvSpPr/>
          <p:nvPr/>
        </p:nvSpPr>
        <p:spPr>
          <a:xfrm>
            <a:off x="1164431" y="32137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Temel Çıkarımlar</a:t>
            </a:r>
            <a:endParaRPr lang="en-US" sz="2200" dirty="0"/>
          </a:p>
        </p:txBody>
      </p:sp>
      <p:sp>
        <p:nvSpPr>
          <p:cNvPr id="8" name="Text 4"/>
          <p:cNvSpPr/>
          <p:nvPr/>
        </p:nvSpPr>
        <p:spPr>
          <a:xfrm>
            <a:off x="1164431" y="3704153"/>
            <a:ext cx="5666661"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LDR sensörleri ile güneş ışığı takibi, servo motorlar ile hassas yön kontrolü ve yazılımın donanım entegrasyonu başarıyla simüle edilmiştir.</a:t>
            </a:r>
            <a:endParaRPr lang="en-US" sz="1750" dirty="0"/>
          </a:p>
        </p:txBody>
      </p:sp>
      <p:sp>
        <p:nvSpPr>
          <p:cNvPr id="9" name="Shape 5"/>
          <p:cNvSpPr/>
          <p:nvPr/>
        </p:nvSpPr>
        <p:spPr>
          <a:xfrm>
            <a:off x="7428548" y="2843093"/>
            <a:ext cx="6408063" cy="2683312"/>
          </a:xfrm>
          <a:prstGeom prst="roundRect">
            <a:avLst>
              <a:gd name="adj" fmla="val 3550"/>
            </a:avLst>
          </a:prstGeom>
          <a:solidFill>
            <a:srgbClr val="FFF8F0"/>
          </a:solidFill>
          <a:ln w="30480">
            <a:solidFill>
              <a:srgbClr val="E2C8B5"/>
            </a:solidFill>
            <a:prstDash val="solid"/>
          </a:ln>
        </p:spPr>
        <p:txBody>
          <a:bodyPr/>
          <a:lstStyle/>
          <a:p>
            <a:endParaRPr lang="tr-TR"/>
          </a:p>
        </p:txBody>
      </p:sp>
      <p:pic>
        <p:nvPicPr>
          <p:cNvPr id="10" name="Image 2" descr="preencoded.png"/>
          <p:cNvPicPr>
            <a:picLocks noChangeAspect="1"/>
          </p:cNvPicPr>
          <p:nvPr/>
        </p:nvPicPr>
        <p:blipFill>
          <a:blip r:embed="rId3"/>
          <a:stretch>
            <a:fillRect/>
          </a:stretch>
        </p:blipFill>
        <p:spPr>
          <a:xfrm>
            <a:off x="7322939" y="2737485"/>
            <a:ext cx="272177" cy="272177"/>
          </a:xfrm>
          <a:prstGeom prst="rect">
            <a:avLst/>
          </a:prstGeom>
        </p:spPr>
      </p:pic>
      <p:pic>
        <p:nvPicPr>
          <p:cNvPr id="11" name="Image 3" descr="preencoded.png"/>
          <p:cNvPicPr>
            <a:picLocks noChangeAspect="1"/>
          </p:cNvPicPr>
          <p:nvPr/>
        </p:nvPicPr>
        <p:blipFill>
          <a:blip r:embed="rId3"/>
          <a:stretch>
            <a:fillRect/>
          </a:stretch>
        </p:blipFill>
        <p:spPr>
          <a:xfrm>
            <a:off x="13670042" y="5359837"/>
            <a:ext cx="272177" cy="272177"/>
          </a:xfrm>
          <a:prstGeom prst="rect">
            <a:avLst/>
          </a:prstGeom>
        </p:spPr>
      </p:pic>
      <p:sp>
        <p:nvSpPr>
          <p:cNvPr id="12" name="Text 6"/>
          <p:cNvSpPr/>
          <p:nvPr/>
        </p:nvSpPr>
        <p:spPr>
          <a:xfrm>
            <a:off x="7799189" y="32137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Geliştirme Önerileri</a:t>
            </a:r>
            <a:endParaRPr lang="en-US" sz="2200" dirty="0"/>
          </a:p>
        </p:txBody>
      </p:sp>
      <p:sp>
        <p:nvSpPr>
          <p:cNvPr id="13" name="Text 7"/>
          <p:cNvSpPr/>
          <p:nvPr/>
        </p:nvSpPr>
        <p:spPr>
          <a:xfrm>
            <a:off x="7799189" y="3704153"/>
            <a:ext cx="5666780"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Sisteme enerji depolama çözümleri eklenmesi, uzaktan izleme yetenekleri veya makine öğrenimi tabanlı optimize edilmiş takip algoritmaları gelecek çalışmalarda düşünülebilir.</a:t>
            </a:r>
            <a:endParaRPr lang="en-US" sz="1750" dirty="0"/>
          </a:p>
        </p:txBody>
      </p:sp>
      <p:sp>
        <p:nvSpPr>
          <p:cNvPr id="14" name="Shape 8"/>
          <p:cNvSpPr/>
          <p:nvPr/>
        </p:nvSpPr>
        <p:spPr>
          <a:xfrm>
            <a:off x="793790" y="5894936"/>
            <a:ext cx="13042821" cy="35957"/>
          </a:xfrm>
          <a:prstGeom prst="rect">
            <a:avLst/>
          </a:prstGeom>
          <a:solidFill>
            <a:srgbClr val="2B2E3C">
              <a:alpha val="50000"/>
            </a:srgbClr>
          </a:solidFill>
          <a:ln/>
        </p:spPr>
        <p:txBody>
          <a:bodyPr/>
          <a:lstStyle/>
          <a:p>
            <a:endParaRPr lang="tr-TR"/>
          </a:p>
        </p:txBody>
      </p:sp>
      <p:sp>
        <p:nvSpPr>
          <p:cNvPr id="15" name="Text 9"/>
          <p:cNvSpPr/>
          <p:nvPr/>
        </p:nvSpPr>
        <p:spPr>
          <a:xfrm>
            <a:off x="793790" y="6186011"/>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B2E3C"/>
                </a:solidFill>
                <a:latin typeface="Open Sans" pitchFamily="34" charset="0"/>
                <a:ea typeface="Open Sans" pitchFamily="34" charset="-122"/>
                <a:cs typeface="Open Sans" pitchFamily="34" charset="-120"/>
              </a:rPr>
              <a:t>DİNLEDİĞİNİZ VE İZLEDİĞİNİZ İÇİN TEŞEKKÜRLER…</a:t>
            </a:r>
            <a:endParaRPr lang="en-US" sz="1750" dirty="0"/>
          </a:p>
        </p:txBody>
      </p:sp>
      <p:sp>
        <p:nvSpPr>
          <p:cNvPr id="16" name="Text 10"/>
          <p:cNvSpPr/>
          <p:nvPr/>
        </p:nvSpPr>
        <p:spPr>
          <a:xfrm>
            <a:off x="793790" y="6804065"/>
            <a:ext cx="13042821" cy="725805"/>
          </a:xfrm>
          <a:prstGeom prst="rect">
            <a:avLst/>
          </a:prstGeom>
          <a:noFill/>
          <a:ln/>
        </p:spPr>
        <p:txBody>
          <a:bodyPr wrap="square" lIns="0" tIns="0" rIns="0" bIns="0" rtlCol="0" anchor="t"/>
          <a:lstStyle/>
          <a:p>
            <a:pPr marL="0" indent="0" algn="ctr">
              <a:lnSpc>
                <a:spcPts val="2850"/>
              </a:lnSpc>
              <a:buNone/>
            </a:pPr>
            <a:r>
              <a:rPr lang="en-US" sz="1750" b="1" dirty="0">
                <a:solidFill>
                  <a:srgbClr val="2B2E3C"/>
                </a:solidFill>
                <a:latin typeface="Open Sans" pitchFamily="34" charset="0"/>
                <a:ea typeface="Open Sans" pitchFamily="34" charset="-122"/>
                <a:cs typeface="Open Sans" pitchFamily="34" charset="-120"/>
              </a:rPr>
              <a:t>Ad Soyad: Eda Ceren GEZGİN</a:t>
            </a:r>
            <a:endParaRPr lang="tr-TR" sz="1750" b="1" dirty="0">
              <a:solidFill>
                <a:srgbClr val="2B2E3C"/>
              </a:solidFill>
              <a:latin typeface="Open Sans" pitchFamily="34" charset="0"/>
              <a:ea typeface="Open Sans" pitchFamily="34" charset="-122"/>
              <a:cs typeface="Open Sans" pitchFamily="34" charset="-120"/>
            </a:endParaRPr>
          </a:p>
          <a:p>
            <a:pPr marL="0" indent="0" algn="ctr">
              <a:lnSpc>
                <a:spcPts val="2850"/>
              </a:lnSpc>
              <a:buNone/>
            </a:pPr>
            <a:r>
              <a:rPr lang="en-US" sz="1750" dirty="0">
                <a:solidFill>
                  <a:srgbClr val="2B2E3C"/>
                </a:solidFill>
                <a:latin typeface="Open Sans" pitchFamily="34" charset="0"/>
                <a:ea typeface="Open Sans" pitchFamily="34" charset="-122"/>
                <a:cs typeface="Open Sans" pitchFamily="34" charset="-120"/>
              </a:rPr>
              <a:t>e-</a:t>
            </a:r>
            <a:r>
              <a:rPr lang="en-US" sz="1750" dirty="0" err="1">
                <a:solidFill>
                  <a:srgbClr val="2B2E3C"/>
                </a:solidFill>
                <a:latin typeface="Open Sans" pitchFamily="34" charset="0"/>
                <a:ea typeface="Open Sans" pitchFamily="34" charset="-122"/>
                <a:cs typeface="Open Sans" pitchFamily="34" charset="-120"/>
              </a:rPr>
              <a:t>posta</a:t>
            </a:r>
            <a:r>
              <a:rPr lang="en-US" sz="1750" dirty="0">
                <a:solidFill>
                  <a:srgbClr val="2B2E3C"/>
                </a:solidFill>
                <a:latin typeface="Open Sans" pitchFamily="34" charset="0"/>
                <a:ea typeface="Open Sans" pitchFamily="34" charset="-122"/>
                <a:cs typeface="Open Sans" pitchFamily="34" charset="-120"/>
              </a:rPr>
              <a:t>: gezgin.eda2006@gmail.com</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1362</Words>
  <Application>Microsoft Office PowerPoint</Application>
  <PresentationFormat>Özel</PresentationFormat>
  <Paragraphs>128</Paragraphs>
  <Slides>14</Slides>
  <Notes>14</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14</vt:i4>
      </vt:variant>
    </vt:vector>
  </HeadingPairs>
  <TitlesOfParts>
    <vt:vector size="20" baseType="lpstr">
      <vt:lpstr>Bitter Medium</vt:lpstr>
      <vt:lpstr>Bitter Light</vt:lpstr>
      <vt:lpstr>Consolas</vt:lpstr>
      <vt:lpstr>Open Sans</vt:lpstr>
      <vt:lpstr>Arial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gezgin.eda2006@gmail.com</cp:lastModifiedBy>
  <cp:revision>2</cp:revision>
  <dcterms:created xsi:type="dcterms:W3CDTF">2025-09-07T21:45:04Z</dcterms:created>
  <dcterms:modified xsi:type="dcterms:W3CDTF">2025-09-07T22:03:15Z</dcterms:modified>
</cp:coreProperties>
</file>